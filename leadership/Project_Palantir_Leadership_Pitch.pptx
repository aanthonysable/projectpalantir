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Project Palantir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6916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7FF"/>
                </a:solidFill>
              </a:rPr>
              <a:t>AI-powered communications, knowledge, and workflow coordination for Sable Automation Solutions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660904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Internal Codename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0" y="256032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33472" y="266090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Leadership Pitch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256032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266090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183880" y="731520"/>
            <a:ext cx="3749040" cy="3749040"/>
          </a:xfrm>
          <a:prstGeom prst="arc">
            <a:avLst/>
          </a:prstGeom>
          <a:noFill/>
          <a:ln w="38100">
            <a:solidFill>
              <a:srgbClr val="3E70B9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1280160"/>
            <a:ext cx="2743200" cy="2743200"/>
          </a:xfrm>
          <a:prstGeom prst="arc">
            <a:avLst/>
          </a:prstGeom>
          <a:noFill/>
          <a:ln w="25400">
            <a:solidFill>
              <a:srgbClr val="69D4C9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0" y="1828800"/>
            <a:ext cx="1645920" cy="1645920"/>
          </a:xfrm>
          <a:prstGeom prst="arc">
            <a:avLst/>
          </a:prstGeom>
          <a:noFill/>
          <a:ln w="25400">
            <a:solidFill>
              <a:srgbClr val="D4A72C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614476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8EA"/>
                </a:solidFill>
              </a:rPr>
              <a:t>shared vision • unified communications • secure AI assistance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current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</a:rPr>
              <a:t>Work is fragmented across tools, people, devices, and personal communication channels.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8495"/>
                </a:solidFill>
              </a:rPr>
              <a:t>Project Palantir | Internal Concept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FFF3E8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68249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Customer calls &amp; texts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personal numbers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5240">
            <a:solidFill>
              <a:srgbClr val="2D6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68249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Project context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trapped in inboxes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F7F4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63056" y="168249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Follow-ups rely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on memory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32520" y="155448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0536" y="168249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Leadership lacks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real-time visibility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33A"/>
                </a:solidFill>
              </a:rPr>
              <a:t>Result: slow handoffs, missed context, duplicated work, and communication history that disappears into private channels.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vision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</a:rPr>
              <a:t>Every employee gets a secure assistant; every system becomes a connector.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8495"/>
                </a:solidFill>
              </a:rPr>
              <a:t>Project Palantir | Internal Concept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554480" cy="777240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5240">
            <a:solidFill>
              <a:srgbClr val="5B66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56816"/>
            <a:ext cx="12984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33A"/>
                </a:solidFill>
              </a:rPr>
              <a:t>People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1691640"/>
            <a:ext cx="2011680" cy="1051560"/>
          </a:xfrm>
          <a:prstGeom prst="roundRect">
            <a:avLst>
              <a:gd name="adj" fmla="val 4348"/>
            </a:avLst>
          </a:prstGeom>
          <a:solidFill>
            <a:srgbClr val="EAF2FF"/>
          </a:solidFill>
          <a:ln w="15240">
            <a:solidFill>
              <a:srgbClr val="2D6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1216" y="1819656"/>
            <a:ext cx="17556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Personal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Assistant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394960" y="1600200"/>
            <a:ext cx="2194560" cy="1234440"/>
          </a:xfrm>
          <a:prstGeom prst="roundRect">
            <a:avLst>
              <a:gd name="adj" fmla="val 3704"/>
            </a:avLst>
          </a:prstGeom>
          <a:solidFill>
            <a:srgbClr val="ECFDF5"/>
          </a:solidFill>
          <a:ln w="15240">
            <a:solidFill>
              <a:srgbClr val="2BB3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2976" y="1728216"/>
            <a:ext cx="19385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33A"/>
                </a:solidFill>
              </a:rPr>
              <a:t>Palantir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3233A"/>
                </a:solidFill>
              </a:rPr>
              <a:t>Core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1828800" cy="1051560"/>
          </a:xfrm>
          <a:prstGeom prst="roundRect">
            <a:avLst>
              <a:gd name="adj" fmla="val 4348"/>
            </a:avLst>
          </a:prstGeom>
          <a:solidFill>
            <a:srgbClr val="FFF8E6"/>
          </a:solidFill>
          <a:ln w="15240">
            <a:solidFill>
              <a:srgbClr val="D4A7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1819656"/>
            <a:ext cx="157276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Connectors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424160" y="1828800"/>
            <a:ext cx="1280160" cy="777240"/>
          </a:xfrm>
          <a:prstGeom prst="roundRect">
            <a:avLst>
              <a:gd name="adj" fmla="val 5882"/>
            </a:avLst>
          </a:prstGeom>
          <a:solidFill>
            <a:srgbClr val="F5F7FB"/>
          </a:solidFill>
          <a:ln w="15240">
            <a:solidFill>
              <a:srgbClr val="5B66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52176" y="1956816"/>
            <a:ext cx="1024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Apps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Systems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04872" y="1993392"/>
            <a:ext cx="320040" cy="347472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28032" y="1993392"/>
            <a:ext cx="320040" cy="347472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62672" y="1993392"/>
            <a:ext cx="320040" cy="347472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1993392"/>
            <a:ext cx="320040" cy="347472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794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33A"/>
                </a:solidFill>
              </a:rPr>
              <a:t>Users ask for outcomes. Palantir chooses the right route, retrieves context, drafts responses, and requests approval before acting.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Palantir includes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</a:rPr>
              <a:t>Personal assistants plus a communications and operations layer.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8495"/>
                </a:solidFill>
              </a:rPr>
              <a:t>Project Palantir | Internal Concept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5240">
            <a:solidFill>
              <a:srgbClr val="2D6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54533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Personal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AI Assistant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08960" y="141732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5240">
            <a:solidFill>
              <a:srgbClr val="2BB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36976" y="154533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Unified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Communications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532120" y="141732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5240">
            <a:solidFill>
              <a:srgbClr val="D4A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0136" y="154533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Tasks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Approvals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0" y="141732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F7F4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83296" y="154533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Project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Knowledge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0" y="2971800"/>
            <a:ext cx="3017520" cy="9144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5240">
            <a:solidFill>
              <a:srgbClr val="5B66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3099816"/>
            <a:ext cx="2761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33A"/>
                </a:solidFill>
              </a:rPr>
              <a:t>Leadership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3233A"/>
                </a:solidFill>
              </a:rPr>
              <a:t>Visibility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8006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33A"/>
                </a:solidFill>
              </a:rPr>
              <a:t>The first version should focus on Microsoft 365, Teams, Outlook, Azure SQL, approvals, and shared conversation history.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Centralized customer communications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</a:rPr>
              <a:t>Customers use company channels; Palantir routes, records, and attributes the work.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8495"/>
                </a:solidFill>
              </a:rPr>
              <a:t>Project Palantir | Internal Concept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77240" y="1645920"/>
            <a:ext cx="2194560" cy="1005840"/>
          </a:xfrm>
          <a:prstGeom prst="roundRect">
            <a:avLst>
              <a:gd name="adj" fmla="val 4545"/>
            </a:avLst>
          </a:prstGeom>
          <a:solidFill>
            <a:srgbClr val="FFF3E8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Call / Text / Email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103120" cy="1005840"/>
          </a:xfrm>
          <a:prstGeom prst="roundRect">
            <a:avLst>
              <a:gd name="adj" fmla="val 4545"/>
            </a:avLst>
          </a:prstGeom>
          <a:solidFill>
            <a:srgbClr val="EAF2FF"/>
          </a:solidFill>
          <a:ln w="15240">
            <a:solidFill>
              <a:srgbClr val="2D6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1773936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Teams Phone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Outlook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SMS Provider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508760"/>
            <a:ext cx="2194560" cy="1280160"/>
          </a:xfrm>
          <a:prstGeom prst="roundRect">
            <a:avLst>
              <a:gd name="adj" fmla="val 3571"/>
            </a:avLst>
          </a:prstGeom>
          <a:solidFill>
            <a:srgbClr val="ECFDF5"/>
          </a:solidFill>
          <a:ln w="15240">
            <a:solidFill>
              <a:srgbClr val="2BB3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1636776"/>
            <a:ext cx="1938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Palantir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Routing + AI Context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23960" y="1645920"/>
            <a:ext cx="2286000" cy="1005840"/>
          </a:xfrm>
          <a:prstGeom prst="roundRect">
            <a:avLst>
              <a:gd name="adj" fmla="val 4545"/>
            </a:avLst>
          </a:prstGeom>
          <a:solidFill>
            <a:srgbClr val="FFF8E6"/>
          </a:solidFill>
          <a:ln w="15240">
            <a:solidFill>
              <a:srgbClr val="D4A7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51976" y="1773936"/>
            <a:ext cx="2029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Right Employee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or Team Queue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35808" y="1975104"/>
            <a:ext cx="320040" cy="38404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975104"/>
            <a:ext cx="320040" cy="38404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975104"/>
            <a:ext cx="320040" cy="38404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02336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33A"/>
                </a:solidFill>
              </a:rPr>
              <a:t>Externally: one Sable number or email. Internally: exact user attribution, customer history, project context, and audit trail.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</a:rPr>
              <a:t>Azure is the system of record; clients and connectors are capability providers.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8495"/>
                </a:solidFill>
              </a:rPr>
              <a:t>Project Palantir | Internal Concept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5240">
            <a:solidFill>
              <a:srgbClr val="5B66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45389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Clients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Web • Windows • Mac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iOS • Android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1143000"/>
            <a:ext cx="3200400" cy="1280160"/>
          </a:xfrm>
          <a:prstGeom prst="roundRect">
            <a:avLst>
              <a:gd name="adj" fmla="val 3571"/>
            </a:avLst>
          </a:prstGeom>
          <a:solidFill>
            <a:srgbClr val="EAF2FF"/>
          </a:solidFill>
          <a:ln w="15240">
            <a:solidFill>
              <a:srgbClr val="2D6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5616" y="1271016"/>
            <a:ext cx="29443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Palantir Core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Identity • AI • Workflow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Communications • Audit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35240" y="132588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5240">
            <a:solidFill>
              <a:srgbClr val="2BB3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63256" y="145389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Azure 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Blob • SignalR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Key Vault • App Insights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3703320"/>
            <a:ext cx="3200400" cy="1005840"/>
          </a:xfrm>
          <a:prstGeom prst="roundRect">
            <a:avLst>
              <a:gd name="adj" fmla="val 4545"/>
            </a:avLst>
          </a:prstGeom>
          <a:solidFill>
            <a:srgbClr val="FFF8E6"/>
          </a:solidFill>
          <a:ln w="15240">
            <a:solidFill>
              <a:srgbClr val="D4A7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3831336"/>
            <a:ext cx="2944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Connectors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Microsoft 365 • Teams Phone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3233A"/>
                </a:solidFill>
              </a:rPr>
              <a:t>Device-specific future connectors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82112" y="1627632"/>
            <a:ext cx="320040" cy="38404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59168" y="1627632"/>
            <a:ext cx="320040" cy="38404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2798064"/>
            <a:ext cx="731520" cy="603504"/>
          </a:xfrm>
          <a:prstGeom prst="upArrow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and safety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</a:rPr>
              <a:t>The AI proposes; Palantir enforces permissions and auditability.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8495"/>
                </a:solidFill>
              </a:rPr>
              <a:t>Project Palantir | Internal Concept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FFF3E8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45389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Human approval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for external sends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5240">
            <a:solidFill>
              <a:srgbClr val="2D6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9856" y="145389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User attribution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for every action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132588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5240">
            <a:solidFill>
              <a:srgbClr val="2BB3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88736" y="145389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Role-based access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and project permissions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32588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5240">
            <a:solidFill>
              <a:srgbClr val="D4A7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145389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Immutable audit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events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3794760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33A"/>
                </a:solidFill>
              </a:rPr>
              <a:t>Default rule: no AI-generated message leaves the company without explicit user approval or a clearly scoped automation policy.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scope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</a:rPr>
              <a:t>Start with the smallest version that proves value and reduces risk.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8495"/>
                </a:solidFill>
              </a:rPr>
              <a:t>Project Palantir | Internal Concept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914400" y="1280160"/>
            <a:ext cx="384048" cy="384048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38074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44752" y="13167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</a:rPr>
              <a:t>Azure foundation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384048" cy="384048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38074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48272" y="13167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</a:rPr>
              <a:t>Users, teams, projects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2240280"/>
            <a:ext cx="384048" cy="384048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34086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44752" y="22768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</a:rPr>
              <a:t>Unified inbox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17920" y="2240280"/>
            <a:ext cx="384048" cy="384048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234086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48272" y="22768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</a:rPr>
              <a:t>Tasks &amp; reminders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400" y="3200400"/>
            <a:ext cx="384048" cy="384048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30098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44752" y="32369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</a:rPr>
              <a:t>Outlook + Teams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217920" y="3200400"/>
            <a:ext cx="384048" cy="384048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330098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48272" y="32369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</a:rPr>
              <a:t>AI drafts + approvals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14400" y="4160520"/>
            <a:ext cx="384048" cy="384048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26110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44752" y="41970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</a:rPr>
              <a:t>Leadership dashboard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business value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</a:rPr>
              <a:t>Benefits compound as communication, knowledge, and workflow move into one operating layer.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8495"/>
                </a:solidFill>
              </a:rPr>
              <a:t>Project Palantir | Internal Concept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286000" cy="960120"/>
          </a:xfrm>
          <a:prstGeom prst="roundRect">
            <a:avLst>
              <a:gd name="adj" fmla="val 4762"/>
            </a:avLst>
          </a:prstGeom>
          <a:solidFill>
            <a:srgbClr val="ECFDF5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591056"/>
            <a:ext cx="2029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Faster customer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response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286000" cy="960120"/>
          </a:xfrm>
          <a:prstGeom prst="roundRect">
            <a:avLst>
              <a:gd name="adj" fmla="val 4762"/>
            </a:avLst>
          </a:prstGeom>
          <a:solidFill>
            <a:srgbClr val="EAF2FF"/>
          </a:solidFill>
          <a:ln w="15240">
            <a:solidFill>
              <a:srgbClr val="2D6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4136" y="1591056"/>
            <a:ext cx="2029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Less admin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work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0" y="1463040"/>
            <a:ext cx="2286000" cy="960120"/>
          </a:xfrm>
          <a:prstGeom prst="roundRect">
            <a:avLst>
              <a:gd name="adj" fmla="val 4762"/>
            </a:avLst>
          </a:prstGeom>
          <a:solidFill>
            <a:srgbClr val="FFF8E6"/>
          </a:solidFill>
          <a:ln w="15240">
            <a:solidFill>
              <a:srgbClr val="D4A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88736" y="1591056"/>
            <a:ext cx="2029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Better handoffs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and accountability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1463040"/>
            <a:ext cx="2286000" cy="960120"/>
          </a:xfrm>
          <a:prstGeom prst="roundRect">
            <a:avLst>
              <a:gd name="adj" fmla="val 4762"/>
            </a:avLst>
          </a:prstGeom>
          <a:solidFill>
            <a:srgbClr val="F7F4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1591056"/>
            <a:ext cx="2029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Knowledge survives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turnover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33A"/>
                </a:solidFill>
              </a:rPr>
              <a:t>Palantir should reduce missed follow-ups, speed up customer support, and preserve institutional knowledge across projects and teams.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</a:rPr>
              <a:t>Treat this as a serious internal product initiative.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8495"/>
                </a:solidFill>
              </a:rPr>
              <a:t>Project Palantir | Internal Concept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2011680" cy="1234440"/>
          </a:xfrm>
          <a:prstGeom prst="roundRect">
            <a:avLst>
              <a:gd name="adj" fmla="val 3704"/>
            </a:avLst>
          </a:prstGeom>
          <a:solidFill>
            <a:srgbClr val="EAF2FF"/>
          </a:solidFill>
          <a:ln w="15240">
            <a:solidFill>
              <a:srgbClr val="2D6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545336"/>
            <a:ext cx="17556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Leadership approval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for discovery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417320"/>
            <a:ext cx="2011680" cy="1234440"/>
          </a:xfrm>
          <a:prstGeom prst="roundRect">
            <a:avLst>
              <a:gd name="adj" fmla="val 3704"/>
            </a:avLst>
          </a:prstGeom>
          <a:solidFill>
            <a:srgbClr val="ECFDF5"/>
          </a:solidFill>
          <a:ln w="15240">
            <a:solidFill>
              <a:srgbClr val="2BB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1545336"/>
            <a:ext cx="17556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Confirm Microsoft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Teams Phone/SMS path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417320"/>
            <a:ext cx="2011680" cy="1234440"/>
          </a:xfrm>
          <a:prstGeom prst="roundRect">
            <a:avLst>
              <a:gd name="adj" fmla="val 3704"/>
            </a:avLst>
          </a:prstGeom>
          <a:solidFill>
            <a:srgbClr val="FFF8E6"/>
          </a:solidFill>
          <a:ln w="15240">
            <a:solidFill>
              <a:srgbClr val="D4A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1616" y="1545336"/>
            <a:ext cx="17556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Create Azure dev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environment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58200" y="1417320"/>
            <a:ext cx="2011680" cy="1234440"/>
          </a:xfrm>
          <a:prstGeom prst="roundRect">
            <a:avLst>
              <a:gd name="adj" fmla="val 3704"/>
            </a:avLst>
          </a:prstGeom>
          <a:solidFill>
            <a:srgbClr val="F7F4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86216" y="1545336"/>
            <a:ext cx="175564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Build Phase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foundation MVP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4251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33A"/>
                </a:solidFill>
              </a:rPr>
              <a:t>Decision requested: approve Phase 0 discovery/design and Phase 1 technical prototype.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Sable Automation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Palantir</dc:title>
  <dc:subject>Project Palantir Leadership Pitch</dc:subject>
  <dc:creator>Sable Automation Solutions</dc:creator>
  <cp:lastModifiedBy>Sable Automation Solutions</cp:lastModifiedBy>
  <cp:revision>1</cp:revision>
  <dcterms:created xsi:type="dcterms:W3CDTF">2026-07-16T16:04:58Z</dcterms:created>
  <dcterms:modified xsi:type="dcterms:W3CDTF">2026-07-16T16:04:58Z</dcterms:modified>
</cp:coreProperties>
</file>